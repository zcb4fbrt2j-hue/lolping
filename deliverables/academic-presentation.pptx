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建议时长：20 秒</a:t>
            </a:r>
          </a:p>
          <a:p/>
          <a:p>
            <a:r>
              <a:t>我们从一条不起眼的木船接缝出发，讨论一个贯穿古今的问题：材料怎样让船在海上可靠服役？今天沿着传统工艺、现代挑战、中国科研创新、国家战略与青年担当五章展开，从专业事实进入思政分析。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  <a:p>
            <a:r>
              <a:t>https://www.cscp.org.cn/site/content/3294.html</a:t>
            </a:r>
          </a:p>
          <a:p>
            <a:r>
              <a:t>https://www.gov.cn/yaowen/liebiao/202603/content_7062633.htm</a:t>
            </a:r>
          </a:p>
          <a:p>
            <a:r>
              <a:t>https://www.shanghai.gov.cn/nw12344/20260910/5c1780a7432543a389d9fe119d1e00b1.html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建议时长：50 秒</a:t>
            </a:r>
          </a:p>
          <a:p/>
          <a:p>
            <a:r>
              <a:t>木船上有两种不同的问题：船板接缝可能渗水，而某处进水后又需要限制影响范围。艌缝针对前者，是接缝密封；水密隔舱针对后者，是结构分隔。非遗网的公开名录说明，一两个船舱偶然受损时，隔舱技术可以避免海水涌入其他舱室；同时明确把苎麻、桐油和石灰等列为板缝堵塞材料。我们不能把隔舱设计的功效全部归于一种填缝材料。图中只是这两种尺度的原理关系，不是福船历史实物的复原工程图。保护传统技艺，也要保护对技术细节的准确理解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建议时长：50 秒</a:t>
            </a:r>
          </a:p>
          <a:p/>
          <a:p>
            <a:r>
              <a:t>苎麻、桐油与石灰，在非遗资料中是共同用于木板缝堵塞的材料。用材料科学的语言看，纤维填塞、油性组分与无机组分，需要同施工压实相配合，才能形成接缝中的材料体系。这里的组分角色是教学解释，不是对历史配比和化学反应的复原，因此不编造传统配方或分子结构。非遗资料还描述了师傅头与工匠协作、师徒口传心授的传承方式。它提示我们，材料选择和工艺经验从来不是彼此分离的。守正创新，就是保存这些知识，再用现代方法研究其有效条件与改进空间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建议时长：120 秒</a:t>
            </a:r>
          </a:p>
          <a:p/>
          <a:p>
            <a:r>
              <a:t>木船的密封问题没有消失，但钢铁巨轮面对的是叠加的服役条件。首先，金属处于电解质环境，水、氧和离子可能通过涂层缺陷或渗透路径到达基材，腐蚀损伤要求材料维持屏障和附着。其次，生物附着与生长改变表面状态，涉及阻力、维护和服役表现。IMO介绍防污体系时也指出，污损会拖慢船舶、增加燃油消耗，但我们不引入未经统一工况核实的百分比。第三，防护方案本身也有环境影响。IMO的AFS公约针对有害防污体系，对作为杀生剂的有机锡化合物等进行管制，并纳入对cybutryne的控制。这里不展开全部法律适用条件，而强调研究方向的改变：不能只追求有效，还要评价环境相容性。由此形成三道题：怎样延缓腐蚀，怎样控制污损，怎样降低整体环境代价？这些要求可能相互制约，因此需要体系设计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https://www.imo.org/en/OurWork/Environment/Pages/Anti-fouling.aspx</a:t>
            </a:r>
          </a:p>
          <a:p>
            <a:r>
              <a:t>https://www.mdpi.com/1996-1944/18/7/1531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建议时长：30 秒</a:t>
            </a:r>
          </a:p>
          <a:p/>
          <a:p>
            <a:r>
              <a:t>核心案例已在中国腐蚀与防护学会官网核实：项目题名为海洋防腐防污涂层体系关键技术及其应用，2026年4月30日公布评价摘要，第一完成单位是集美大学。摘要中的创新横跨树脂与填料、连接涂层和有机硅防污材料。我们依据摘要介绍技术路线，同时把通用机理和项目事实分开，不把未公开的实验条件、寿命或应用规模补出来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建议时长：75 秒</a:t>
            </a:r>
          </a:p>
          <a:p/>
          <a:p>
            <a:r>
              <a:t>先看高固体分环氧。评价摘要明确列出了二聚酸改性高固低黏环氧树脂、钛酸钾镁晶片以及双电层片状填料，并报告开发了五种超高固体分环氧防腐涂料。材料学上的关键，是把配方、施工和成膜连接起来。高固体分不能自动等同于零溶剂；低黏度也不是脱离施工条件的抽象优点，而关系到铺展、混合与成膜。一般环氧屏障原理可由专业综述支持：固化网络与分散良好的片状填料有助于阻碍腐蚀介质迁移。图中的网络和金色片层只是这个原理的示意，不是该项目真实微观结构。评价摘要报告了高附着与长效防腐等特性，却没有给出这里可以复述的完整测试条件。因此，我们强调设计逻辑，不把教学图当成显微证据，也不杜撰耐盐雾时长或电化学指标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  <a:p>
            <a:r>
              <a:t>https://www.mdpi.com/1996-1944/18/7/1531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建议时长：75 秒</a:t>
            </a:r>
          </a:p>
          <a:p/>
          <a:p>
            <a:r>
              <a:t>再看有机硅。左图解释的是污损释放型材料的一般机理：低表面能、低模量和平滑表面可降低部分海洋生物的附着强度，水动力或清洗再促成脱离。这个机制可由Swain和Shinjo的论文支持，但那篇论文的实验对象是养殖网，不能把其中效果直接移植成船体或本项目数据。项目评价摘要给出了更具体的两类路径：通过聚硼硅氧烷等功能树脂共聚，提高有机硅涂层的附着、强度和高速运动条件下的抗破损性能；通过海生物智能控释防污单元与pH响应双亲表面，提高静态防污期效。这意味着动态抗破损与静态防污需要分别考虑。我们不把所有路线都说成纯物理防污，也不因材料名称就宣称绝对无毒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  <a:p>
            <a:r>
              <a:t>https://www.mdpi.com/1422-0067/15/12/22142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建议时长：65 秒</a:t>
            </a:r>
          </a:p>
          <a:p/>
          <a:p>
            <a:r>
              <a:t>单层性能好，不意味着组合后就稳定。防腐层要维持牢固附着和完整屏障，防污层又有自己的表面与力学要求，因此连接界面是系统设计的重要位置。评价摘要明确提出，通过调控混合树脂涂料固化过程的动力学参数，制备梯度化半互穿网络结构高强连接涂层，提高与防腐层、防污层的结合力。我们可以把它理解为从固化过程组织界面结构的设计思路，但不能据此画出未公开的精确相组成或梯度曲线。左图仅表示各层功能，并不代表真实厚度。值得追问的是：层间污染、重涂窗口和长期服役应力，会不会成为短板？这也是从单项性能走向系统可靠性的研究训练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建议时长：55 秒</a:t>
            </a:r>
          </a:p>
          <a:p/>
          <a:p>
            <a:r>
              <a:t>评价摘要确认技术成果实现了产品应用转化，在造船、核电和海工等领域应用；同时称相关涂层体系通过CCS、DNV-GL等船级社认证，符合NORSOK M-501标准要求。这是成果走向工程的证据，但摘要没有公开具体船名、面积和服役寿命，我们不作补充推测。左图来自集美大学官网的2026海洋装备博览会报道，反映学校与行业对接的场景，不是本涂层项目的实船应用照。由此引出的产学研分析是：科研端解释机理，制造端控制工艺，用户端提供服役反馈，共同完成从材料到方案的转换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  <a:p>
            <a:r>
              <a:t>https://www.jmu.edu.cn/info/1041/118240.htm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建议时长：80 秒</a:t>
            </a:r>
          </a:p>
          <a:p/>
          <a:p>
            <a:r>
              <a:t>思政分析不能止于给涂层贴上国家战略标签。中间的转换过程必须讲清：国家需要可靠海洋装备，装备需要基础材料，而材料还要经过制造、施工、认证和服役验证，才能形成稳定产业能力。国家十五五纲要第三篇强调高水平科技自立自强与新质生产力，也提出推动科技创新和产业创新深度融合；第三十二章部署海洋强国与海洋科技创新。放回案例，自立自强不是只得到一个配方，更是掌握问题定义、技术路径和验证方法；新质生产力也不等于实验室里多一个新名词，而要看技术是否进入生产过程、改善质量与效率。评价摘要确认了工程转化，使这一联系具有事实支点；但我们不能由摘要独立推出国产替代率或宏观经济贡献。这种既看到战略意义、又尊重证据尺度的分析，才体现研究生层次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https://www.cscp.org.cn/site/content/3294.html</a:t>
            </a:r>
          </a:p>
          <a:p>
            <a:r>
              <a:t>https://www.gov.cn/yaowen/liebiao/202603/content_7062633.htm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建议时长：75 秒</a:t>
            </a:r>
          </a:p>
          <a:p/>
          <a:p>
            <a:r>
              <a:t>习近平生态文明思想在材料课题中不是最后补一句保护海洋，而应进入评价目标。上海美丽上海十五五规划明确以人与自然和谐共生为方向，并统筹降碳、减污、扩绿、增长。对应本案例，施工阶段应考察配方和工艺的挥发性排放，高固体分提供技术方向，但收益仍需实测；服役阶段，要区分污损释放、控释和响应表面，不把机制不同误写成没有任何环境风险；维护阶段，要把重涂、清洗、废物处理纳入分析。我们的价值判断因此转化为三个可检验的问题：相对什么基准，在什么工况，系统边界到哪里？只有避免环境负担转移，才可能说明技术如何同时支持开发利用和生态保护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https://www.shanghai.gov.cn/nw12344/20260910/5c1780a7432543a389d9fe119d1e00b1.html</a:t>
            </a:r>
          </a:p>
          <a:p>
            <a:r>
              <a:t>https://www.imo.org/en/OurWork/Environment/Pages/Anti-fouling.aspx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建议时长：85 秒</a:t>
            </a:r>
          </a:p>
          <a:p/>
          <a:p>
            <a:r>
              <a:t>十五五的联系可以分为两层原文和一层专业分析。国家纲要第三十二章明确提出加强海洋科技创新、巩固提升海洋装备制造业优势，并在下一节部署海洋生态环境保护。上海2026年9月公布的美丽上海建设十五五规划，明确要求造船、涂装等行业开展VOCs深度治理，并支持科技成果孵化转化。这使我们能够提出一个有依据的专业切入点：上海海洋相关装备场景需要更可靠、更绿色、能够稳定施工的材料，高固体分防腐体系、耐久界面和环境相容性研究因此具有需求牵引。但要注意，最后一层是我们从政策和案例推导出的材料研究建议，不是说这份生态环境规划设立了一个同名海洋新材料专项，也不声称该集美大学成果已经在上海落地。国家方向、地方需求与具体课题通过机制相连，而不是靠地名或口号相连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https://www.gov.cn/yaowen/liebiao/202603/content_7062633.htm</a:t>
            </a:r>
          </a:p>
          <a:p>
            <a:r>
              <a:t>https://www.shanghai.gov.cn/nw12344/20260910/5c1780a7432543a389d9fe119d1e00b1.html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建议时长：85 秒</a:t>
            </a:r>
          </a:p>
          <a:p/>
          <a:p>
            <a:r>
              <a:t>青年担当需要落实到日常研究。第一，做深材料，不只报告某个性能提高，还要说明组成和结构怎样影响机制，证据是否支持解释。第二，做实界面，把浸泡、应力和施工条件纳入验证，不局限在理想小试片。第三，做严评价，保留工况、对照、重复与异常，既报告成功，也分析失效。第四，做通转化，与制造和应用端共同定义问题，理解工艺放大与实际维护的限制。传统工匠的经验值得尊重，现代科研则要求把认识转化为可复现、可交流的证据。服务国家需求，不是给每项工作加上宏大标题，而是把真实问题研究透，把每个结论做可信，让解决方案更接近海上服役。材料与化工的交叉优势，正可以体现在这一连续过程中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  <a:p>
            <a:r>
              <a:t>https://www.cscp.org.cn/site/content/3294.html</a:t>
            </a:r>
          </a:p>
          <a:p>
            <a:r>
              <a:t>https://www.gov.cn/yaowen/liebiao/202603/content_7062633.htm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建议时长：35 秒</a:t>
            </a:r>
          </a:p>
          <a:p/>
          <a:p>
            <a:r>
              <a:t>最后回到一条船缝。古代工匠用材料经验和工艺积累解决渗漏，现代研究者用机理研究、界面设计和工程验证回应更复杂的海洋环境。改变的是材料与工艺，不变的是面向真实问题的智慧与担当。从填补木船的一条缝，到守护现代巨轮的一层涂层，我们愿以可信的材料研究，为海洋强国建设提供扎实的专业支撑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  <a:p>
            <a:r>
              <a:t>https://www.cscp.org.cn/site/content/3294.html</a:t>
            </a:r>
          </a:p>
          <a:p>
            <a:r>
              <a:t>https://www.gov.cn/yaowen/liebiao/202603/content_7062633.htm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建议时长：0 秒</a:t>
            </a:r>
          </a:p>
          <a:p/>
          <a:p>
            <a:r>
              <a:t>参考页不计入讲述。完整来源、访问方式、核验摘录和图片来源见随附清单。图中箭头、网格和层序为自绘原理示意；科研项目的公开评价摘要不等于完整实验报告；政策对应和青年行动属于本汇报分析。</a:t>
            </a:r>
          </a:p>
          <a:p/>
          <a:p>
            <a:r>
              <a:t>证据边界：来源已读取；项目事实、通用机理与本汇报分析分别表述。原文未公开的信息不作推断。</a:t>
            </a:r>
          </a:p>
          <a:p>
            <a:r>
              <a:t>来源：</a:t>
            </a:r>
          </a:p>
          <a:p>
            <a:r>
              <a:t>https://www.ihchina.cn/directory_list</a:t>
            </a:r>
          </a:p>
          <a:p>
            <a:r>
              <a:t>https://www.cscp.org.cn/site/content/3294.html</a:t>
            </a:r>
          </a:p>
          <a:p>
            <a:r>
              <a:t>https://www.gov.cn/yaowen/liebiao/202603/content_7062633.htm</a:t>
            </a:r>
          </a:p>
          <a:p>
            <a:r>
              <a:t>https://www.shanghai.gov.cn/nw12344/20260910/5c1780a7432543a389d9fe119d1e00b1.html</a:t>
            </a:r>
          </a:p>
          <a:p>
            <a:r>
              <a:t>https://www.imo.org/en/OurWork/Environment/Pages/Anti-fouling.aspx</a:t>
            </a:r>
          </a:p>
          <a:p>
            <a:r>
              <a:t>https://www.jmu.edu.cn/info/1041/118240.htm</a:t>
            </a:r>
          </a:p>
          <a:p>
            <a:r>
              <a:t>https://www.mdpi.com/1996-1944/18/7/1531</a:t>
            </a:r>
          </a:p>
          <a:p>
            <a:r>
              <a:t>https://www.mdpi.com/1422-0067/15/12/22142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hchina.cn/directory_list" TargetMode="External"/><Relationship Id="rId3" Type="http://schemas.openxmlformats.org/officeDocument/2006/relationships/hyperlink" Target="https://www.cscp.org.cn/site/content/3294.html" TargetMode="External"/><Relationship Id="rId4" Type="http://schemas.openxmlformats.org/officeDocument/2006/relationships/hyperlink" Target="https://www.gov.cn/yaowen/liebiao/202603/content_7062633.htm" TargetMode="External"/><Relationship Id="rId5" Type="http://schemas.openxmlformats.org/officeDocument/2006/relationships/hyperlink" Target="https://www.shanghai.gov.cn/nw12344/20260910/5c1780a7432543a389d9fe119d1e00b1.html" TargetMode="External"/><Relationship Id="rId6" Type="http://schemas.openxmlformats.org/officeDocument/2006/relationships/hyperlink" Target="https://www.imo.org/en/OurWork/Environment/Pages/Anti-fouling.aspx" TargetMode="Externa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10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138160" y="731520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138160" y="1572768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138160" y="2414016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38160" y="3255264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138160" y="4096512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38160" y="4937760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5779008"/>
            <a:ext cx="3794760" cy="0"/>
          </a:xfrm>
          <a:prstGeom prst="line">
            <a:avLst/>
          </a:prstGeom>
          <a:ln w="8890">
            <a:solidFill>
              <a:srgbClr val="1B4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11480"/>
            <a:ext cx="91440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材料与化工  /  研究生思政课程小组汇报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8128" y="411480"/>
            <a:ext cx="155448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15 分钟 · 16:9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52728"/>
            <a:ext cx="7315200" cy="17190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5632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一条船缝里的</a:t>
            </a:r>
          </a:p>
          <a:p>
            <a:pPr algn="l">
              <a:lnSpc>
                <a:spcPts val="5632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材料智慧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46120"/>
            <a:ext cx="566928" cy="50292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02736"/>
            <a:ext cx="6949440" cy="11430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从传统福船艌缝到现代船舶防护材料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看海洋强国建设之路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93208"/>
            <a:ext cx="6858000" cy="6858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15 分钟 · 五章论证 · 传统工艺 × 材料创新 × 国家战略</a:t>
            </a:r>
          </a:p>
        </p:txBody>
      </p:sp>
      <p:sp>
        <p:nvSpPr>
          <p:cNvPr id="16" name="Freeform 15"/>
          <p:cNvSpPr/>
          <p:nvPr/>
        </p:nvSpPr>
        <p:spPr>
          <a:xfrm>
            <a:off x="8348472" y="2057400"/>
            <a:ext cx="3246120" cy="502920"/>
          </a:xfrm>
          <a:custGeom>
            <a:avLst/>
            <a:gdLst/>
            <a:ahLst/>
            <a:cxnLst/>
            <a:rect l="l" t="t" r="r" b="b"/>
            <a:pathLst>
              <a:path w="3550" h="550">
                <a:moveTo>
                  <a:pt x="0" y="0"/>
                </a:moveTo>
                <a:lnTo>
                  <a:pt x="3550" y="0"/>
                </a:lnTo>
                <a:lnTo>
                  <a:pt x="3053" y="550"/>
                </a:lnTo>
                <a:lnTo>
                  <a:pt x="710" y="550"/>
                </a:lnTo>
                <a:close/>
              </a:path>
            </a:pathLst>
          </a:cu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971532" y="1005840"/>
            <a:ext cx="0" cy="1051560"/>
          </a:xfrm>
          <a:prstGeom prst="line">
            <a:avLst/>
          </a:prstGeom>
          <a:ln w="38100">
            <a:solidFill>
              <a:srgbClr val="C9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10003536" y="1051560"/>
            <a:ext cx="941832" cy="749808"/>
          </a:xfrm>
          <a:custGeom>
            <a:avLst/>
            <a:gdLst/>
            <a:ahLst/>
            <a:cxnLst/>
            <a:rect l="l" t="t" r="r" b="b"/>
            <a:pathLst>
              <a:path w="1030" h="820">
                <a:moveTo>
                  <a:pt x="0" y="0"/>
                </a:moveTo>
                <a:lnTo>
                  <a:pt x="1030" y="270"/>
                </a:lnTo>
                <a:lnTo>
                  <a:pt x="0" y="820"/>
                </a:lnTo>
                <a:close/>
              </a:path>
            </a:pathLst>
          </a:cu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387230" y="2075688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06609" y="2075688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5988" y="2075688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45368" y="2075688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48472" y="2651760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48472" y="2779776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48472" y="2907791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8348472" y="4315968"/>
            <a:ext cx="3246120" cy="502920"/>
          </a:xfrm>
          <a:custGeom>
            <a:avLst/>
            <a:gdLst/>
            <a:ahLst/>
            <a:cxnLst/>
            <a:rect l="l" t="t" r="r" b="b"/>
            <a:pathLst>
              <a:path w="3550" h="550">
                <a:moveTo>
                  <a:pt x="0" y="0"/>
                </a:moveTo>
                <a:lnTo>
                  <a:pt x="3550" y="0"/>
                </a:lnTo>
                <a:lnTo>
                  <a:pt x="3053" y="550"/>
                </a:lnTo>
                <a:lnTo>
                  <a:pt x="710" y="550"/>
                </a:lnTo>
                <a:close/>
              </a:path>
            </a:pathLst>
          </a:cu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20756" y="3858768"/>
            <a:ext cx="519379" cy="457200"/>
          </a:xfrm>
          <a:prstGeom prst="rect">
            <a:avLst/>
          </a:prstGeom>
          <a:solidFill>
            <a:srgbClr val="6C8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5079" y="3867911"/>
            <a:ext cx="324612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52152" y="3867911"/>
            <a:ext cx="324612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09226" y="3867911"/>
            <a:ext cx="324612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66299" y="3867911"/>
            <a:ext cx="324612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5079" y="4078224"/>
            <a:ext cx="324612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52152" y="4078224"/>
            <a:ext cx="324612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09226" y="4078224"/>
            <a:ext cx="324612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66299" y="4078224"/>
            <a:ext cx="324612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348472" y="4910328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48472" y="5038344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48472" y="5166360"/>
            <a:ext cx="324612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47888" y="5559552"/>
            <a:ext cx="329184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结构与接缝 → 表面与界面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6984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40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图为可编辑示意 · 以非遗资料、成果评价与正式政策文件为依据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第一章  千年匠心——一条船缝里的中国智慧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隔舱管“范围”，艌缝管“通道”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二者解决不同尺度的进水问题，不能把水密隔舱等同于填缝材料。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[1] 非遗网官方名录数据（项目 11847）；图为原理示意，非文物复原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331720"/>
            <a:ext cx="6537960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06040"/>
            <a:ext cx="45720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船体结构 · 分舱示意</a:t>
            </a:r>
          </a:p>
        </p:txBody>
      </p:sp>
      <p:sp>
        <p:nvSpPr>
          <p:cNvPr id="17" name="Freeform 16"/>
          <p:cNvSpPr/>
          <p:nvPr/>
        </p:nvSpPr>
        <p:spPr>
          <a:xfrm>
            <a:off x="987552" y="3236976"/>
            <a:ext cx="5641848" cy="1563624"/>
          </a:xfrm>
          <a:custGeom>
            <a:avLst/>
            <a:gdLst/>
            <a:ahLst/>
            <a:cxnLst/>
            <a:rect l="l" t="t" r="r" b="b"/>
            <a:pathLst>
              <a:path w="6170" h="1710">
                <a:moveTo>
                  <a:pt x="0" y="0"/>
                </a:moveTo>
                <a:lnTo>
                  <a:pt x="6170" y="0"/>
                </a:lnTo>
                <a:lnTo>
                  <a:pt x="5420" y="1710"/>
                </a:lnTo>
                <a:lnTo>
                  <a:pt x="800" y="1710"/>
                </a:lnTo>
                <a:close/>
              </a:path>
            </a:pathLst>
          </a:custGeom>
          <a:solidFill>
            <a:srgbClr val="D9B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57984" y="3264408"/>
            <a:ext cx="77724" cy="129844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3264408"/>
            <a:ext cx="77724" cy="129844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53712" y="3264408"/>
            <a:ext cx="77724" cy="129844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51576" y="3264408"/>
            <a:ext cx="77724" cy="129844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950208"/>
            <a:ext cx="1005840" cy="603504"/>
          </a:xfrm>
          <a:prstGeom prst="rect">
            <a:avLst/>
          </a:prstGeom>
          <a:solidFill>
            <a:srgbClr val="6DA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5010912"/>
            <a:ext cx="1371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局部进水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31536"/>
            <a:ext cx="5486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结构分隔 ≠ 接缝密封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450592"/>
            <a:ext cx="40233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局部接缝 · 放大示意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71231" y="3072384"/>
            <a:ext cx="1691640" cy="120700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8048" y="3072384"/>
            <a:ext cx="1691640" cy="1207008"/>
          </a:xfrm>
          <a:prstGeom prst="rect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62872" y="3072384"/>
            <a:ext cx="265176" cy="1207008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281160" y="3246120"/>
            <a:ext cx="210312" cy="73152"/>
          </a:xfrm>
          <a:prstGeom prst="line">
            <a:avLst/>
          </a:prstGeom>
          <a:ln w="11430">
            <a:solidFill>
              <a:srgbClr val="16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81160" y="3474720"/>
            <a:ext cx="210312" cy="73152"/>
          </a:xfrm>
          <a:prstGeom prst="line">
            <a:avLst/>
          </a:prstGeom>
          <a:ln w="11430">
            <a:solidFill>
              <a:srgbClr val="16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3703320"/>
            <a:ext cx="210312" cy="73152"/>
          </a:xfrm>
          <a:prstGeom prst="line">
            <a:avLst/>
          </a:prstGeom>
          <a:ln w="11430">
            <a:solidFill>
              <a:srgbClr val="16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81160" y="3931920"/>
            <a:ext cx="210312" cy="73152"/>
          </a:xfrm>
          <a:prstGeom prst="line">
            <a:avLst/>
          </a:prstGeom>
          <a:ln w="11430">
            <a:solidFill>
              <a:srgbClr val="16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81160" y="4160520"/>
            <a:ext cx="210312" cy="73152"/>
          </a:xfrm>
          <a:prstGeom prst="line">
            <a:avLst/>
          </a:prstGeom>
          <a:ln w="11430">
            <a:solidFill>
              <a:srgbClr val="16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52944" y="4617720"/>
            <a:ext cx="3977639" cy="9144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816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板缝填塞</a:t>
            </a:r>
          </a:p>
          <a:p>
            <a:pPr algn="l">
              <a:lnSpc>
                <a:spcPts val="2816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降低渗漏通道的连通性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第一章  千年匠心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一条接缝，也是一次材料与工艺的协同设计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先理解各组分承担什么角色，再讨论如何填塞、压实与维护。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[1] 非遗网原文确认三种堵缝材料；组分角色为材料学解释，不给出未公开配比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423160"/>
            <a:ext cx="33649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633472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8859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044952"/>
            <a:ext cx="2880360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B08859"/>
                </a:solidFill>
                <a:latin typeface="Noto Sans CJK SC"/>
                <a:ea typeface="Noto Sans CJK SC"/>
              </a:defRPr>
            </a:pPr>
            <a:r>
              <a:t>苎麻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730752"/>
            <a:ext cx="2880360" cy="78638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纤维填塞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填充板缝、形成堵缝体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423160"/>
            <a:ext cx="33649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633472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44952"/>
            <a:ext cx="2880360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桐油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730752"/>
            <a:ext cx="2880360" cy="78638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油性组分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参与复合堵缝材料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0456" y="2423160"/>
            <a:ext cx="33649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2633472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044952"/>
            <a:ext cx="2880360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石灰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730752"/>
            <a:ext cx="2880360" cy="78638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无机组分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与其他材料共同填缝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5184648"/>
            <a:ext cx="10287000" cy="0"/>
          </a:xfrm>
          <a:prstGeom prst="line">
            <a:avLst/>
          </a:prstGeom>
          <a:ln w="25400">
            <a:solidFill>
              <a:srgbClr val="C9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4400" y="5102352"/>
            <a:ext cx="146304" cy="146304"/>
          </a:xfrm>
          <a:prstGeom prst="ellipse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928616"/>
            <a:ext cx="246888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选材</a:t>
            </a:r>
          </a:p>
        </p:txBody>
      </p:sp>
      <p:sp>
        <p:nvSpPr>
          <p:cNvPr id="30" name="Oval 29"/>
          <p:cNvSpPr/>
          <p:nvPr/>
        </p:nvSpPr>
        <p:spPr>
          <a:xfrm>
            <a:off x="4114800" y="5102352"/>
            <a:ext cx="146304" cy="146304"/>
          </a:xfrm>
          <a:prstGeom prst="ellipse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4928616"/>
            <a:ext cx="246888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填塞与压实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5102352"/>
            <a:ext cx="146304" cy="146304"/>
          </a:xfrm>
          <a:prstGeom prst="ellipse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4928616"/>
            <a:ext cx="246888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服役与维护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41848"/>
            <a:ext cx="1051560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守正创新：保存技艺，也用现代材料方法解释其有效条件。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第二章  材料之困——现代巨轮如何抵御海洋侵蚀？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从“挡住水”，到同时回答三道材料题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现代海洋防护的目标，是可靠性、可维护性与环境相容性的协同。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来源 [5] IMO Anti-fouling systems；[7] Hao 等，Materials，2025；图为通用机理说明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04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423160"/>
            <a:ext cx="3364992" cy="315468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651760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54680"/>
            <a:ext cx="2907792" cy="54864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海水腐蚀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77639"/>
            <a:ext cx="2907792" cy="86868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电解质 + 金属表面反应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882896"/>
            <a:ext cx="2907792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需求：阻隔介质、维持附着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423160"/>
            <a:ext cx="3364992" cy="315468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651760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154680"/>
            <a:ext cx="2907792" cy="54864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生物污损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77639"/>
            <a:ext cx="2907792" cy="86868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附着 → 生长 → 表面改变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882896"/>
            <a:ext cx="2907792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需求：抑制附着或便于脱离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0456" y="2423160"/>
            <a:ext cx="3364992" cy="315468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651760"/>
            <a:ext cx="914400" cy="3357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154680"/>
            <a:ext cx="2907792" cy="54864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绿色约束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977639"/>
            <a:ext cx="2907792" cy="86868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施工、服役与维护的排放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882896"/>
            <a:ext cx="2907792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需求：兼顾性能与环境影响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核心转变：从单一材料指标，走向服役条件下的系统性能。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第三章  科技破题——一层涂层背后的中国创新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核心案例：把防腐、防污与界面设计做成体系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海洋防腐防污涂层体系关键技术及其应用 · 第一完成单位：集美大学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[2] 中国腐蚀与防护学会，2026-04-30，科技成果评价摘要 · /site/content/3294.html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368296"/>
            <a:ext cx="65379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51760"/>
            <a:ext cx="54864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评价摘要中的三组技术创新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172968"/>
            <a:ext cx="5148072" cy="4754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高固低黏环氧 + 片状填料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922776"/>
            <a:ext cx="5148072" cy="4754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梯度化半互穿网络连接涂层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672583"/>
            <a:ext cx="5148072" cy="47548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有机硅结构调控 + 智能防污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42616"/>
            <a:ext cx="40233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成果评价证书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200400"/>
            <a:ext cx="3977639" cy="100584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中腐评价字〔2026〕</a:t>
            </a:r>
          </a:p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第7号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315968"/>
            <a:ext cx="3977639" cy="60756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摘要公开技术路线；</a:t>
            </a:r>
          </a:p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完整配方与实验条件未披露。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5020056"/>
            <a:ext cx="3877056" cy="594360"/>
          </a:xfrm>
          <a:prstGeom prst="roundRect">
            <a:avLst/>
          </a:prstGeom>
          <a:solidFill>
            <a:srgbClr val="F5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5166360"/>
            <a:ext cx="361188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25A25"/>
                </a:solidFill>
                <a:latin typeface="Noto Sans CJK SC"/>
                <a:ea typeface="Noto Sans CJK SC"/>
              </a:defRPr>
            </a:pPr>
            <a:r>
              <a:t>以下自绘图均标明原理与事实边界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第三章  科技破题  /  组成 → 结构 → 机理 → 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从树脂到填料：让腐蚀介质更难穿透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项目路线：二聚酸改性高固低黏环氧 + 钛酸钾镁晶片 + 双电层片状填料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[2] 评价摘要第1项；[7] Hao 等，Materials，2025 · 图为一般屏障机理，非实测截面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359152"/>
            <a:ext cx="649224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24328"/>
            <a:ext cx="566928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水 / 氧 / 离子：可能的渗透路径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5852160" cy="1508760"/>
          </a:xfrm>
          <a:prstGeom prst="rect">
            <a:avLst/>
          </a:prstGeom>
          <a:solidFill>
            <a:srgbClr val="BCD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773168"/>
            <a:ext cx="5852160" cy="411480"/>
          </a:xfrm>
          <a:prstGeom prst="rect">
            <a:avLst/>
          </a:prstGeom>
          <a:solidFill>
            <a:srgbClr val="8C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8872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8872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14757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2024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92024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7909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65176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5176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61061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38328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8328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34213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1480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1480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07365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84632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4632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80517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577840" y="3502152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7784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53669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502152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68212" y="3461004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8872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8872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14757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92024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024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87909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65176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5176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61061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38328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8328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34213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11480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1480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07365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84632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84632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80517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5577840" y="3941064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57784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53669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309360" y="3941064"/>
            <a:ext cx="118872" cy="438912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268212" y="3899916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18872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14757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92024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87909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65176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61061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38328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34213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411480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407365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484632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480517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5577840" y="4379976"/>
            <a:ext cx="731520" cy="109728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53669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68212" y="4338828"/>
            <a:ext cx="82296" cy="82296"/>
          </a:xfrm>
          <a:prstGeom prst="ellipse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17320" y="3749039"/>
            <a:ext cx="777240" cy="73152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70632" y="3977639"/>
            <a:ext cx="777240" cy="73152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95928" y="3557016"/>
            <a:ext cx="777240" cy="73152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937760" y="4215384"/>
            <a:ext cx="777240" cy="73152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1993392" y="2999232"/>
            <a:ext cx="0" cy="548640"/>
          </a:xfrm>
          <a:prstGeom prst="line">
            <a:avLst/>
          </a:prstGeom>
          <a:ln w="31750">
            <a:solidFill>
              <a:srgbClr val="CC8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993392" y="3547872"/>
            <a:ext cx="310896" cy="182880"/>
          </a:xfrm>
          <a:prstGeom prst="line">
            <a:avLst/>
          </a:prstGeom>
          <a:ln w="31750">
            <a:solidFill>
              <a:srgbClr val="CC8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2139696" y="3730752"/>
            <a:ext cx="164592" cy="420624"/>
          </a:xfrm>
          <a:prstGeom prst="line">
            <a:avLst/>
          </a:prstGeom>
          <a:ln w="31750">
            <a:solidFill>
              <a:srgbClr val="CC8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139696" y="4151376"/>
            <a:ext cx="365760" cy="310896"/>
          </a:xfrm>
          <a:prstGeom prst="line">
            <a:avLst/>
          </a:prstGeom>
          <a:ln w="31750">
            <a:solidFill>
              <a:srgbClr val="CC8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14400" y="5358384"/>
            <a:ext cx="3931920" cy="3032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固化网络 / 片状填料示意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37760" y="5358384"/>
            <a:ext cx="1828800" cy="3032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钢基材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52360" y="2395728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组成设计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52360" y="2752344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高固低黏树脂与片状填料协同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52360" y="3520440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结构与机理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3877056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固化网络与片状结构延缓介质迁移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52360" y="4645152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性能与边界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2360" y="5001768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摘要报告高附着、长效防腐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具体工况未披露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第三章  科技破题  /  表面性质 → 附着 → 脱离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有机硅防污：同时面向动态与静态工况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项目路线：功能树脂共聚；智能控释防污单元与 pH 响应双亲表面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[2] 评价摘要第3项；[8] Swain &amp; Shinjo，IJMS，2014 · 图示为通用污损释放原理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359152"/>
            <a:ext cx="649224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633472"/>
            <a:ext cx="5852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污损释放：表面与水动力共同作用 · 原理示意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90872"/>
            <a:ext cx="5806440" cy="438912"/>
          </a:xfrm>
          <a:prstGeom prst="rect">
            <a:avLst/>
          </a:prstGeom>
          <a:solidFill>
            <a:srgbClr val="77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148072"/>
            <a:ext cx="5806440" cy="228600"/>
          </a:xfrm>
          <a:prstGeom prst="rect">
            <a:avLst/>
          </a:prstGeom>
          <a:solidFill>
            <a:srgbClr val="8C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74519" y="4270248"/>
            <a:ext cx="438912" cy="438912"/>
          </a:xfrm>
          <a:prstGeom prst="ellipse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093976" y="4663440"/>
            <a:ext cx="0" cy="18288"/>
          </a:xfrm>
          <a:prstGeom prst="line">
            <a:avLst/>
          </a:prstGeom>
          <a:ln w="12700">
            <a:solidFill>
              <a:srgbClr val="B088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93008" y="4261104"/>
            <a:ext cx="438912" cy="438912"/>
          </a:xfrm>
          <a:prstGeom prst="ellipse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712463" y="4663440"/>
            <a:ext cx="0" cy="9144"/>
          </a:xfrm>
          <a:prstGeom prst="line">
            <a:avLst/>
          </a:prstGeom>
          <a:ln w="12700">
            <a:solidFill>
              <a:srgbClr val="B088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84648" y="3630168"/>
            <a:ext cx="438912" cy="438912"/>
          </a:xfrm>
          <a:prstGeom prst="ellipse">
            <a:avLst/>
          </a:pr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404104" y="4041648"/>
            <a:ext cx="0" cy="621792"/>
          </a:xfrm>
          <a:prstGeom prst="line">
            <a:avLst/>
          </a:prstGeom>
          <a:ln w="12700">
            <a:solidFill>
              <a:srgbClr val="B088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2415" y="3227832"/>
            <a:ext cx="3712465" cy="0"/>
          </a:xfrm>
          <a:prstGeom prst="line">
            <a:avLst/>
          </a:prstGeom>
          <a:ln w="2540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4800600" y="3118103"/>
            <a:ext cx="384048" cy="256032"/>
          </a:xfrm>
          <a:prstGeom prst="chevron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42415" y="3566160"/>
            <a:ext cx="3712465" cy="0"/>
          </a:xfrm>
          <a:prstGeom prst="line">
            <a:avLst/>
          </a:prstGeom>
          <a:ln w="2540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4800600" y="3456432"/>
            <a:ext cx="384048" cy="256032"/>
          </a:xfrm>
          <a:prstGeom prst="chevron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5440680" y="3410712"/>
            <a:ext cx="365760" cy="566927"/>
          </a:xfrm>
          <a:prstGeom prst="line">
            <a:avLst/>
          </a:prstGeom>
          <a:ln w="25400">
            <a:solidFill>
              <a:srgbClr val="C9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5486400"/>
            <a:ext cx="5577840" cy="33121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附着较弱 ≠ 完全不附着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395728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动态场景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752344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聚硼硅氧烷等功能树脂共聚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提高高速运动时抗破损性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520440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静态场景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877056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智能控释与响应表面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改善静态防污期效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645152"/>
            <a:ext cx="402336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解释边界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001768"/>
            <a:ext cx="4069080" cy="7132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低表面能不等于不附着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也不等于绝对无害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第三章  科技破题  /  体系配套与界面设计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多层涂层的短板，往往藏在界面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从“每层性能好”，走向“整个体系在海洋环境中稳定工作”。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来源 [2] 评价摘要第2项；层序为功能示意，不代表实际膜厚、配方或施工规范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08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523744"/>
            <a:ext cx="6126480" cy="475488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587751"/>
            <a:ext cx="2880360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1E33"/>
                </a:solidFill>
                <a:latin typeface="Noto Sans CJK SC"/>
                <a:ea typeface="Noto Sans CJK SC"/>
              </a:defRPr>
            </a:pPr>
            <a:r>
              <a:t>有机硅防污层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58584" y="2761487"/>
            <a:ext cx="484632" cy="0"/>
          </a:xfrm>
          <a:prstGeom prst="line">
            <a:avLst/>
          </a:prstGeom>
          <a:ln w="15240">
            <a:solidFill>
              <a:srgbClr val="52C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07808" y="2569463"/>
            <a:ext cx="3840480" cy="40233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表面性质 / 力学性能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82112"/>
            <a:ext cx="6126480" cy="475488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246120"/>
            <a:ext cx="2880360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1E33"/>
                </a:solidFill>
                <a:latin typeface="Noto Sans CJK SC"/>
                <a:ea typeface="Noto Sans CJK SC"/>
              </a:defRPr>
            </a:pPr>
            <a:r>
              <a:t>梯度半互穿网络连接层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58584" y="3419856"/>
            <a:ext cx="484632" cy="0"/>
          </a:xfrm>
          <a:prstGeom prst="line">
            <a:avLst/>
          </a:prstGeom>
          <a:ln w="15240">
            <a:solidFill>
              <a:srgbClr val="C9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07808" y="3227832"/>
            <a:ext cx="3840480" cy="40233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固化动力学 / 层间结合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40480"/>
            <a:ext cx="6126480" cy="475488"/>
          </a:xfrm>
          <a:prstGeom prst="rect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904488"/>
            <a:ext cx="2880360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环氧防腐层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58584" y="4078224"/>
            <a:ext cx="484632" cy="0"/>
          </a:xfrm>
          <a:prstGeom prst="line">
            <a:avLst/>
          </a:prstGeom>
          <a:ln w="15240">
            <a:solidFill>
              <a:srgbClr val="176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07808" y="3886200"/>
            <a:ext cx="3840480" cy="40233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成膜完整性 / 屏障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498848"/>
            <a:ext cx="6126480" cy="475488"/>
          </a:xfrm>
          <a:prstGeom prst="rect">
            <a:avLst/>
          </a:prstGeom>
          <a:solidFill>
            <a:srgbClr val="798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562856"/>
            <a:ext cx="2880360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17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钢基材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8584" y="4736592"/>
            <a:ext cx="484632" cy="0"/>
          </a:xfrm>
          <a:prstGeom prst="line">
            <a:avLst/>
          </a:prstGeom>
          <a:ln w="15240">
            <a:solidFill>
              <a:srgbClr val="798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07808" y="4544568"/>
            <a:ext cx="3840480" cy="40233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表面处理 / 清洁度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330952"/>
            <a:ext cx="274320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常见失效风险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40096"/>
            <a:ext cx="7635240" cy="5760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污染界面  /  重涂窗口不匹配  /  浸泡与温差引起的应力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第三章  科技破题  /  工程应用与产学研协同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从实验室到船体，检验的是整个体系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产学研协同的价值，在于把材料性能转化为可施工、可检验、可维护的方案。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[2] 成果评价摘要；[6] 集美大学官网，2026-10-23（图片：科研处；仅作课堂引用）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09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jmu-expo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69" y="2423160"/>
            <a:ext cx="4293261" cy="32186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705856"/>
            <a:ext cx="4754880" cy="38404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集美大学海装展展台；非该涂层实船应用照片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450592"/>
            <a:ext cx="576072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评价摘要确认：已实现产品应用转化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953512"/>
            <a:ext cx="5669280" cy="5943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造船  /  核电  /  海工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94176"/>
            <a:ext cx="5715000" cy="121615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相关体系：CCS / DNV-GL 认证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符合 NORSOK M-501 要求。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未披露船名、应用面积和寿命数据。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5276088"/>
            <a:ext cx="1664208" cy="502920"/>
          </a:xfrm>
          <a:prstGeom prst="roundRect">
            <a:avLst/>
          </a:prstGeom>
          <a:solidFill>
            <a:srgbClr val="E0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5385816"/>
            <a:ext cx="1508760" cy="3149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科研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5276088"/>
            <a:ext cx="1664208" cy="502920"/>
          </a:xfrm>
          <a:prstGeom prst="roundRect">
            <a:avLst/>
          </a:prstGeom>
          <a:solidFill>
            <a:srgbClr val="E0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5385816"/>
            <a:ext cx="1508760" cy="3149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制造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47504" y="5276088"/>
            <a:ext cx="1664208" cy="502920"/>
          </a:xfrm>
          <a:prstGeom prst="roundRect">
            <a:avLst/>
          </a:prstGeom>
          <a:solidFill>
            <a:srgbClr val="E0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5385816"/>
            <a:ext cx="1508760" cy="3149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应用反馈</a:t>
            </a:r>
          </a:p>
        </p:txBody>
      </p:sp>
      <p:sp>
        <p:nvSpPr>
          <p:cNvPr id="26" name="Chevron 25"/>
          <p:cNvSpPr/>
          <p:nvPr/>
        </p:nvSpPr>
        <p:spPr>
          <a:xfrm>
            <a:off x="7388352" y="5404104"/>
            <a:ext cx="210312" cy="256032"/>
          </a:xfrm>
          <a:prstGeom prst="chevron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9427464" y="5404104"/>
            <a:ext cx="210312" cy="256032"/>
          </a:xfrm>
          <a:prstGeom prst="chevron">
            <a:avLst/>
          </a:prstGeom>
          <a:solidFill>
            <a:srgbClr val="1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第四章  向海图强——材料创新背后的国家战略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一层涂层，如何成为海洋发展的支撑力？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把科技自立自强与新质生产力，落到“技术—验证—产业能力”的具体转换中。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来源 [2] 工程应用摘要；[3] 国家“十五五”纲要第三篇、第三十二章 · 图为本汇报的理论分析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542032"/>
            <a:ext cx="2212848" cy="210312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43200"/>
            <a:ext cx="1874519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国家需求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429000"/>
            <a:ext cx="1874519" cy="9601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海洋装备</a:t>
            </a:r>
          </a:p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可靠服役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542032"/>
            <a:ext cx="2212848" cy="210312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3" y="2743200"/>
            <a:ext cx="1874519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技术能力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429000"/>
            <a:ext cx="1874519" cy="9601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材料 / 界面</a:t>
            </a:r>
          </a:p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自主研究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6" y="2542032"/>
            <a:ext cx="2212848" cy="210312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743200"/>
            <a:ext cx="1874519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工程能力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429000"/>
            <a:ext cx="1874519" cy="9601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生产 / 施工</a:t>
            </a:r>
          </a:p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评价与维护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542032"/>
            <a:ext cx="2212848" cy="2103120"/>
          </a:xfrm>
          <a:prstGeom prst="roundRect">
            <a:avLst/>
          </a:prstGeom>
          <a:solidFill>
            <a:srgbClr val="11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743200"/>
            <a:ext cx="1874519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发展质量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429000"/>
            <a:ext cx="1874519" cy="9601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耐久 / 绿色</a:t>
            </a:r>
          </a:p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产业升级</a:t>
            </a:r>
          </a:p>
        </p:txBody>
      </p:sp>
      <p:sp>
        <p:nvSpPr>
          <p:cNvPr id="27" name="Chevron 26"/>
          <p:cNvSpPr/>
          <p:nvPr/>
        </p:nvSpPr>
        <p:spPr>
          <a:xfrm>
            <a:off x="3008376" y="3401568"/>
            <a:ext cx="356616" cy="256032"/>
          </a:xfrm>
          <a:prstGeom prst="chevron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5897880" y="3401568"/>
            <a:ext cx="356616" cy="256032"/>
          </a:xfrm>
          <a:prstGeom prst="chevron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8787384" y="3401568"/>
            <a:ext cx="356616" cy="256032"/>
          </a:xfrm>
          <a:prstGeom prst="chevron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3200400" cy="43891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科技自立自强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224" y="5093208"/>
            <a:ext cx="7360920" cy="41148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掌握问题定义、技术路径与验证方法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96128"/>
            <a:ext cx="3200400" cy="43891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944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新质生产力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5614416"/>
            <a:ext cx="7360920" cy="41148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以创新推动生产方式、质量与效率改善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第四章  向海图强  /  习近平生态文明思想与绿色发展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绿色防护，要在全生命周期中算账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以人与自然和谐共生为价值取向，把环境代价纳入材料研究的评价目标。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来源 [4]《美丽上海建设“十五五”规划》；[5] IMO AFS · 不把材料名称当作环境安全证明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496312"/>
            <a:ext cx="1099108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697480"/>
            <a:ext cx="192024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施工阶段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697480"/>
            <a:ext cx="288036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高固体分路线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15768"/>
            <a:ext cx="466344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关注挥发性排放与施工暴露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11296"/>
            <a:ext cx="1099108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712463"/>
            <a:ext cx="192024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服役阶段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712463"/>
            <a:ext cx="288036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污损释放路线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30752"/>
            <a:ext cx="466344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关注释放物、磨损与清洗影响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26280"/>
            <a:ext cx="1099108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727448"/>
            <a:ext cx="192024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维护阶段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727448"/>
            <a:ext cx="2880360" cy="396239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长效可靠防护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745736"/>
            <a:ext cx="4663440" cy="36576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关注重涂、清洗频次与废物处理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705856"/>
            <a:ext cx="10881360" cy="36372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研究结论应回答：相对什么方案？在什么工况？环境收益有何证据？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第四章  向海图强  /  “十五五”与上海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“十五五”与上海：把绿色要求变成材料任务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从国家海洋科技部署，到上海造船、涂装行业的绿色转型需求。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来源 [3] 国家纲要第三十二章；[4] 沪府发〔2026〕16号，第四部分（一）及第七部分（三）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96312"/>
            <a:ext cx="73152" cy="78638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642616"/>
            <a:ext cx="205740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国家部署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9544" y="2660904"/>
            <a:ext cx="7955279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加强海洋科技创新，保护海洋生态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11296"/>
            <a:ext cx="73152" cy="78638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57600"/>
            <a:ext cx="205740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上海要求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3675887"/>
            <a:ext cx="7955279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造船、涂装行业 VOCs 深度治理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73152" cy="78638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672584"/>
            <a:ext cx="205740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专业分析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4690872"/>
            <a:ext cx="7955279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高固体分 + 长效防护 + 环境相容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96712"/>
            <a:ext cx="10881360" cy="37998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上海材料研发的切入点：用工程验证连接绿色需求与成果转化。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第五章  青春担当——以材料之力回应时代之问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把“服务国家需求”，写成可验证的研究任务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材料与化工研究生的担当，从一个明确问题、一组可信结果和一次有效协作开始。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CF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本页为专业行动建议，不构成已实施项目或已取得成果的描述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A"/>
                </a:solidFill>
                <a:latin typeface="Noto Sans CJK SC"/>
                <a:ea typeface="Noto Sans CJK SC"/>
              </a:defRPr>
            </a:pPr>
            <a: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CF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350008"/>
            <a:ext cx="534924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78608"/>
            <a:ext cx="685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2551176"/>
            <a:ext cx="4114800" cy="4937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做深材料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218687"/>
            <a:ext cx="4114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连接组成与结构，解释性能来源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350008"/>
            <a:ext cx="534924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578608"/>
            <a:ext cx="685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551176"/>
            <a:ext cx="4114800" cy="4937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做实界面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18687"/>
            <a:ext cx="4114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在浸泡、应力与施工条件下验证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87952"/>
            <a:ext cx="534924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416552"/>
            <a:ext cx="685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389120"/>
            <a:ext cx="4114800" cy="4937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做严评价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56632"/>
            <a:ext cx="4114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记录工况、对照、重复与失效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187952"/>
            <a:ext cx="534924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416552"/>
            <a:ext cx="685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389120"/>
            <a:ext cx="4114800" cy="4937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6B9D"/>
                </a:solidFill>
                <a:latin typeface="Noto Sans CJK SC"/>
                <a:ea typeface="Noto Sans CJK SC"/>
              </a:defRPr>
            </a:pPr>
            <a:r>
              <a:t>做通转化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056632"/>
            <a:ext cx="4114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6344B"/>
                </a:solidFill>
                <a:latin typeface="Noto Sans CJK SC"/>
                <a:ea typeface="Noto Sans CJK SC"/>
              </a:defRPr>
            </a:pPr>
            <a:r>
              <a:t>与制造和应用端共同定义问题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第五章  青春担当  /  回到起点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改变的是材料与工艺，不变的是面向真实问题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从一条船缝，到一层涂层：以专业实践回应向海图强的时代要求。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结语为本汇报综合表达；全部绘图为可编辑教学示意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79" y="6080760"/>
            <a:ext cx="228600" cy="32004"/>
          </a:xfrm>
          <a:prstGeom prst="rect">
            <a:avLst/>
          </a:prstGeom>
          <a:solidFill>
            <a:srgbClr val="31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6080760"/>
            <a:ext cx="228600" cy="32004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68680" y="3172968"/>
            <a:ext cx="3886200" cy="502920"/>
          </a:xfrm>
          <a:custGeom>
            <a:avLst/>
            <a:gdLst/>
            <a:ahLst/>
            <a:cxnLst/>
            <a:rect l="l" t="t" r="r" b="b"/>
            <a:pathLst>
              <a:path w="4250" h="550">
                <a:moveTo>
                  <a:pt x="0" y="0"/>
                </a:moveTo>
                <a:lnTo>
                  <a:pt x="4250" y="0"/>
                </a:lnTo>
                <a:lnTo>
                  <a:pt x="3655" y="550"/>
                </a:lnTo>
                <a:lnTo>
                  <a:pt x="850" y="550"/>
                </a:lnTo>
                <a:close/>
              </a:path>
            </a:pathLst>
          </a:cu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811780" y="2121408"/>
            <a:ext cx="0" cy="1051560"/>
          </a:xfrm>
          <a:prstGeom prst="line">
            <a:avLst/>
          </a:prstGeom>
          <a:ln w="38100">
            <a:solidFill>
              <a:srgbClr val="C9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850185" y="2167128"/>
            <a:ext cx="1127455" cy="749808"/>
          </a:xfrm>
          <a:custGeom>
            <a:avLst/>
            <a:gdLst/>
            <a:ahLst/>
            <a:cxnLst/>
            <a:rect l="l" t="t" r="r" b="b"/>
            <a:pathLst>
              <a:path w="1233" h="820">
                <a:moveTo>
                  <a:pt x="0" y="0"/>
                </a:moveTo>
                <a:lnTo>
                  <a:pt x="1233" y="270"/>
                </a:lnTo>
                <a:lnTo>
                  <a:pt x="0" y="820"/>
                </a:lnTo>
                <a:close/>
              </a:path>
            </a:pathLst>
          </a:custGeom>
          <a:solidFill>
            <a:srgbClr val="B0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112264" y="3191256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34056" y="3191256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55848" y="3191256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77640" y="3191256"/>
            <a:ext cx="0" cy="384048"/>
          </a:xfrm>
          <a:prstGeom prst="line">
            <a:avLst/>
          </a:prstGeom>
          <a:ln w="16510">
            <a:solidFill>
              <a:srgbClr val="F2F6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8680" y="3767328"/>
            <a:ext cx="388620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" y="3895344"/>
            <a:ext cx="388620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8680" y="4023360"/>
            <a:ext cx="3886200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424928" y="3172968"/>
            <a:ext cx="3886200" cy="502920"/>
          </a:xfrm>
          <a:custGeom>
            <a:avLst/>
            <a:gdLst/>
            <a:ahLst/>
            <a:cxnLst/>
            <a:rect l="l" t="t" r="r" b="b"/>
            <a:pathLst>
              <a:path w="4250" h="550">
                <a:moveTo>
                  <a:pt x="0" y="0"/>
                </a:moveTo>
                <a:lnTo>
                  <a:pt x="4250" y="0"/>
                </a:lnTo>
                <a:lnTo>
                  <a:pt x="3655" y="550"/>
                </a:lnTo>
                <a:lnTo>
                  <a:pt x="850" y="550"/>
                </a:lnTo>
                <a:close/>
              </a:path>
            </a:pathLst>
          </a:cu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5267" y="2715768"/>
            <a:ext cx="621792" cy="457200"/>
          </a:xfrm>
          <a:prstGeom prst="rect">
            <a:avLst/>
          </a:prstGeom>
          <a:solidFill>
            <a:srgbClr val="6C8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18754" y="2724912"/>
            <a:ext cx="388620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46236" y="2724912"/>
            <a:ext cx="388620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73718" y="2724912"/>
            <a:ext cx="388620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724912"/>
            <a:ext cx="388620" cy="182880"/>
          </a:xfrm>
          <a:prstGeom prst="rect">
            <a:avLst/>
          </a:prstGeom>
          <a:solidFill>
            <a:srgbClr val="49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18754" y="2935224"/>
            <a:ext cx="388620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46236" y="2935224"/>
            <a:ext cx="388620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73718" y="2935224"/>
            <a:ext cx="388620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2935224"/>
            <a:ext cx="388620" cy="182880"/>
          </a:xfrm>
          <a:prstGeom prst="rect">
            <a:avLst/>
          </a:prstGeom>
          <a:solidFill>
            <a:srgbClr val="52C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24927" y="3767328"/>
            <a:ext cx="3886201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24927" y="3895344"/>
            <a:ext cx="3886201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4927" y="4023360"/>
            <a:ext cx="3886201" cy="0"/>
          </a:xfrm>
          <a:prstGeom prst="line">
            <a:avLst/>
          </a:prstGeom>
          <a:ln w="8890">
            <a:solidFill>
              <a:srgbClr val="55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5532120" y="3300984"/>
            <a:ext cx="640080" cy="256032"/>
          </a:xfrm>
          <a:prstGeom prst="chevron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626864"/>
            <a:ext cx="484632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816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传统：材料经验 + 工艺积累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626864"/>
            <a:ext cx="4663440" cy="45720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816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现代：机理研究 + 系统验证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504688"/>
            <a:ext cx="9784080" cy="493776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ctr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求真  ·  协同  ·  创新  ·  责任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68580" cy="228600"/>
          </a:xfrm>
          <a:prstGeom prst="rect">
            <a:avLst/>
          </a:prstGeom>
          <a:solidFill>
            <a:srgbClr val="C9A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83464"/>
            <a:ext cx="822960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t>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7584" y="283464"/>
            <a:ext cx="1280160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材料 × 海洋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1064240" cy="62179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核心来源与证据边界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5029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事实来自原文；机理图为自绘示意；理论联系与研究建议属于本汇报分析。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236208"/>
            <a:ext cx="11000232" cy="0"/>
          </a:xfrm>
          <a:prstGeom prst="line">
            <a:avLst/>
          </a:prstGeom>
          <a:ln w="889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382512"/>
            <a:ext cx="10378440" cy="2560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完整题名、可点击链接、摘录与图片版权说明见 sources/参考资料与核验记录.md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364224"/>
            <a:ext cx="640080" cy="274320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40864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5010912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非遗网：中国水密隔舱福船制造技艺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51760"/>
            <a:ext cx="5010912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官方名录数据 · 项目 11847 · 传统材料与工艺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4983480" cy="51206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2CCCF"/>
                </a:solidFill>
                <a:hlinkClick r:id="rId2"/>
              </a:rPr>
              <a:t>www.ihchina.cn/directory_list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044952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08376"/>
            <a:ext cx="5010912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学会：海洋防腐防污涂层体系关键技术及其应用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55848"/>
            <a:ext cx="5010912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2026-04-30 · 中腐评价字〔2026〕第7号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99816"/>
            <a:ext cx="4983480" cy="51206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2CCCF"/>
                </a:solidFill>
                <a:hlinkClick r:id="rId3"/>
              </a:rPr>
              <a:t>www.cscp.org.cn/site/content/3294.html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749040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12464"/>
            <a:ext cx="5010912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国家“十五五”规划纲要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59936"/>
            <a:ext cx="5010912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第三篇：科技自立自强；第三十二章：海洋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03904"/>
            <a:ext cx="4983480" cy="51206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2CCCF"/>
                </a:solidFill>
                <a:hlinkClick r:id="rId4"/>
              </a:rPr>
              <a:t>中国政府网 · 2026-03-13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453128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16552"/>
            <a:ext cx="5010912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《美丽上海建设“十五五”规划》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64024"/>
            <a:ext cx="5010912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沪府发〔2026〕16号 · 造船、涂装 VOCs 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07992"/>
            <a:ext cx="4983480" cy="51206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2CCCF"/>
                </a:solidFill>
                <a:hlinkClick r:id="rId5"/>
              </a:rPr>
              <a:t>上海市人民政府 · 2026-09-10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157216"/>
            <a:ext cx="411480" cy="31953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04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A660"/>
                </a:solidFill>
                <a:latin typeface="Noto Sans CJK SC"/>
                <a:ea typeface="Noto Sans CJK SC"/>
              </a:defRPr>
            </a:pPr>
            <a:r>
              <a:t>5–8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20640"/>
            <a:ext cx="5010912" cy="347472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IMO / 集美大学 / 两篇专业文献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68112"/>
            <a:ext cx="5010912" cy="292608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AC0CF"/>
                </a:solidFill>
                <a:latin typeface="Noto Sans CJK SC"/>
                <a:ea typeface="Noto Sans CJK SC"/>
              </a:defRPr>
            </a:pPr>
            <a:r>
              <a:t>法规与协同；环氧屏障、有机硅污损释放机理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79"/>
            <a:ext cx="4983480" cy="512064"/>
          </a:xfrm>
          <a:prstGeom prst="rect">
            <a:avLst/>
          </a:prstGeom>
          <a:noFill/>
        </p:spPr>
        <p:txBody>
          <a:bodyPr wrap="none" lIns="22860" rIns="22860" tIns="9144" bIns="9144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CCCF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2CCCF"/>
                </a:solidFill>
                <a:hlinkClick r:id="rId6"/>
              </a:rPr>
              <a:t>Materials 2025；IJMS 2014 · 详见清单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2CCCF"/>
      </a:hlink>
      <a:folHlink>
        <a:srgbClr val="52CCC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